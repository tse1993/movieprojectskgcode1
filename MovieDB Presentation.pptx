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B"/>
    <a:srgbClr val="AA7A72"/>
    <a:srgbClr val="C5A49F"/>
    <a:srgbClr val="365976"/>
    <a:srgbClr val="254975"/>
    <a:srgbClr val="39497D"/>
    <a:srgbClr val="584D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47A0648-FF2D-FA24-1152-354113DE6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07B698C5-691D-7CD5-989B-94122E87D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3D42808-7823-09ED-6B41-FA912239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EFDA478-E5FB-1C57-ACAC-177ECFF7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36D6D97-3190-FA1E-CEBD-0D22275B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755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9200023-EC15-78BB-C21D-B588FEE9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DADD8EA-6C50-2554-DD0D-0C99BB09C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F275D21-44B6-A7CA-4E17-7D526B6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53445C5-447A-EAD1-812F-65662FBF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68A97C9-D7E0-E03F-740D-3C21AB2D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250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EA409C-ABC4-A6EF-5B99-DD32A90B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2DBB9C33-798E-D7A5-88DF-EB5EFCEF5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266092A-0540-A949-2BE1-CCFBF771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7E8ED74-7097-4CFD-CEA4-98C0FD39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720508D-1D0A-603E-E30F-270C4E27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4274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D14E46-8361-0BCF-213F-E4273FEC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C634950-5FB5-EFD3-3CE0-A0C2708D6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A064FF3C-8D82-8212-DC81-205254183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AAC03D08-5B26-D326-91D3-5B132CC9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F72B8B59-47E9-72AB-BE49-79E4D8F3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87772E31-DCAE-C4F5-BF42-C974EA9E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2779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EABF848-11DB-2246-BC58-F1CE2780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B752A9C9-8DA3-A847-51DE-195F76DBF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A89C66AF-7866-7D85-19A5-E3EDD2284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45320B2D-5E1F-2FA9-230C-5D352A8EC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13152400-5096-F3D9-75F8-1854EAE0C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A9767698-330A-CDE9-5D05-2864E7AD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BFDF65AE-A45E-8999-32A7-FC37E7A3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7FEC9A46-A534-03F8-CD43-D84FC28D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262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7B1D3AA-836F-FA48-ECC8-A8487589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95F4E5A0-919F-69A2-BCFA-7CBA25BB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68A8C70-5567-3F53-64EF-317162C0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AE66C0E7-35D4-C255-FBD3-8A188C9B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2367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280766FD-0E98-CA50-D33F-A8CACAD8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B0E52074-9BFD-128A-D6A7-4FC03ADE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3A36B39-4B87-16D5-A240-AA20A728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4036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75CC3F7-0E4F-CA7C-3404-C43A4490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4F418F7-D55C-4F9D-1FFC-138EF8C9A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91628CA0-7FCA-DE0C-5177-D4F525DE2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EF1E2B5-C6E7-57B8-DC58-F40CEBEE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5B02C0BC-1B19-53A4-60B4-30C0F66C2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5DA8EA4A-1EA2-5B8E-7A1B-C173294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5610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916B8D9-A8B7-7E18-55DC-F24FE93B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BEF52F74-7654-EE26-CD0F-30A530E4B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8ED7563C-5494-B265-BA5A-42081A4AE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C11CE771-839A-FF11-B4FC-AFE9C88B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1759935-E0A7-15E3-0A94-803D8927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BA5A25F-CE20-8614-40A3-0AEFA7677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5486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93CC7A6-87EE-6B70-6E44-FBBCAF24C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90B9B04D-9E54-817C-77D3-65AF2AA63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A788CA7-E2F6-9211-10E3-23F2998E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5063594-A157-1239-AC1A-D231557D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B19BDB1-D7D7-7D71-5386-2ECBE24A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0667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CD70A889-9A74-EBBE-06D8-6C59C4894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C60B5313-E061-7204-D309-78007B3CD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84CACE6-70B9-718B-6B46-402FEB8C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ECE7778-D488-12EE-33FE-137D00A7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D86ACDD-977C-E2A0-647F-36AA1488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7215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E5A09BB2-CA5C-D51F-6421-9A252762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2A260C3-2DD1-0777-ADE2-CD98843E0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891F92B-7C6B-4EB9-8030-810E1ED2E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021DC-5A3B-4474-B9F2-9254B23080E8}" type="datetimeFigureOut">
              <a:rPr lang="el-GR" smtClean="0"/>
              <a:t>12/10/2025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EEB4B86-85E9-F08B-FF93-AB93DA198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B435AAB-87B0-3377-CB5E-2A7533B8C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AC9BE-B238-47FA-ACCD-17CB97D92FE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8427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rack-steep-68520881.figma.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2CEAFAC5-781A-FAB6-0E39-980D5F5845E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568"/>
          <a:stretch>
            <a:fillRect/>
          </a:stretch>
        </p:blipFill>
        <p:spPr>
          <a:xfrm>
            <a:off x="0" y="0"/>
            <a:ext cx="12192000" cy="6407524"/>
          </a:xfrm>
          <a:prstGeom prst="rect">
            <a:avLst/>
          </a:prstGeom>
        </p:spPr>
      </p:pic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90F29C33-F990-47DB-9C8F-B2E2DA7661B9}"/>
              </a:ext>
            </a:extLst>
          </p:cNvPr>
          <p:cNvSpPr/>
          <p:nvPr/>
        </p:nvSpPr>
        <p:spPr>
          <a:xfrm rot="10800000">
            <a:off x="0" y="4803494"/>
            <a:ext cx="12192000" cy="2054506"/>
          </a:xfrm>
          <a:prstGeom prst="rect">
            <a:avLst/>
          </a:prstGeom>
          <a:gradFill flip="none" rotWithShape="1">
            <a:gsLst>
              <a:gs pos="0">
                <a:srgbClr val="365976">
                  <a:shade val="30000"/>
                  <a:satMod val="115000"/>
                </a:srgbClr>
              </a:gs>
              <a:gs pos="50000">
                <a:srgbClr val="365976">
                  <a:shade val="67500"/>
                  <a:satMod val="115000"/>
                </a:srgbClr>
              </a:gs>
              <a:gs pos="100000">
                <a:srgbClr val="36597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36597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F1BB3DA-BF21-3AA1-DC4D-657FA7FE1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082540"/>
            <a:ext cx="12192000" cy="181266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600" dirty="0" err="1">
                <a:solidFill>
                  <a:schemeClr val="bg1"/>
                </a:solidFill>
                <a:latin typeface="Ink Free" panose="03080402000500000000" pitchFamily="66" charset="0"/>
              </a:rPr>
              <a:t>MovieDB</a:t>
            </a:r>
            <a:r>
              <a:rPr lang="en-US" sz="3600" dirty="0">
                <a:solidFill>
                  <a:schemeClr val="bg1"/>
                </a:solidFill>
                <a:latin typeface="Ink Free" panose="03080402000500000000" pitchFamily="66" charset="0"/>
              </a:rPr>
              <a:t> – An alternative web app </a:t>
            </a:r>
          </a:p>
          <a:p>
            <a:pPr>
              <a:lnSpc>
                <a:spcPct val="110000"/>
              </a:lnSpc>
            </a:pPr>
            <a:r>
              <a:rPr lang="en-US" sz="3600" dirty="0">
                <a:solidFill>
                  <a:schemeClr val="bg1"/>
                </a:solidFill>
                <a:latin typeface="Ink Free" panose="03080402000500000000" pitchFamily="66" charset="0"/>
              </a:rPr>
              <a:t>experience for movie feeds</a:t>
            </a:r>
            <a:endParaRPr lang="el-GR" sz="3600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E43EC960-0B21-63DE-FB09-FE97007EF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7" r="70302" b="11768"/>
          <a:stretch>
            <a:fillRect/>
          </a:stretch>
        </p:blipFill>
        <p:spPr>
          <a:xfrm>
            <a:off x="2692030" y="536916"/>
            <a:ext cx="2329550" cy="2004060"/>
          </a:xfrm>
          <a:prstGeom prst="rect">
            <a:avLst/>
          </a:prstGeom>
        </p:spPr>
      </p:pic>
      <p:pic>
        <p:nvPicPr>
          <p:cNvPr id="34" name="Εικόνα 33">
            <a:extLst>
              <a:ext uri="{FF2B5EF4-FFF2-40B4-BE49-F238E27FC236}">
                <a16:creationId xmlns:a16="http://schemas.microsoft.com/office/drawing/2014/main" id="{C34AD882-1938-B3C2-74F0-75FAEC82F41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3604260"/>
            <a:ext cx="12192000" cy="1060704"/>
          </a:xfrm>
          <a:prstGeom prst="rect">
            <a:avLst/>
          </a:prstGeom>
        </p:spPr>
      </p:pic>
      <p:pic>
        <p:nvPicPr>
          <p:cNvPr id="37" name="Εικόνα 36">
            <a:extLst>
              <a:ext uri="{FF2B5EF4-FFF2-40B4-BE49-F238E27FC236}">
                <a16:creationId xmlns:a16="http://schemas.microsoft.com/office/drawing/2014/main" id="{313264F5-29A5-4E31-C1C6-9BE781C591A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629527"/>
            <a:ext cx="12192000" cy="1048512"/>
          </a:xfrm>
          <a:prstGeom prst="rect">
            <a:avLst/>
          </a:prstGeom>
        </p:spPr>
      </p:pic>
      <p:pic>
        <p:nvPicPr>
          <p:cNvPr id="38" name="Εικόνα 37">
            <a:extLst>
              <a:ext uri="{FF2B5EF4-FFF2-40B4-BE49-F238E27FC236}">
                <a16:creationId xmlns:a16="http://schemas.microsoft.com/office/drawing/2014/main" id="{75F4118F-EF6C-D953-74A9-8DC274A4625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LineDrawing/>
                    </a14:imgEffect>
                  </a14:imgLayer>
                </a14:imgProps>
              </a:ext>
            </a:extLst>
          </a:blip>
          <a:srcRect b="17812"/>
          <a:stretch>
            <a:fillRect/>
          </a:stretch>
        </p:blipFill>
        <p:spPr>
          <a:xfrm>
            <a:off x="4782791" y="747263"/>
            <a:ext cx="4602879" cy="158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6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4A641-30CD-385A-6081-F569E0FB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Ορθογώνιο: Στρογγύλεμα γωνιών 6">
            <a:extLst>
              <a:ext uri="{FF2B5EF4-FFF2-40B4-BE49-F238E27FC236}">
                <a16:creationId xmlns:a16="http://schemas.microsoft.com/office/drawing/2014/main" id="{0AA585F5-79B3-6900-16E2-C1B92D3E8D7B}"/>
              </a:ext>
            </a:extLst>
          </p:cNvPr>
          <p:cNvSpPr/>
          <p:nvPr/>
        </p:nvSpPr>
        <p:spPr>
          <a:xfrm>
            <a:off x="1287780" y="1630680"/>
            <a:ext cx="9799320" cy="4831080"/>
          </a:xfrm>
          <a:prstGeom prst="roundRect">
            <a:avLst>
              <a:gd name="adj" fmla="val 0"/>
            </a:avLst>
          </a:prstGeom>
          <a:solidFill>
            <a:srgbClr val="FFFAEB"/>
          </a:solidFill>
          <a:ln w="28575">
            <a:solidFill>
              <a:srgbClr val="FFFA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B65C0B3A-6FEB-1B56-1A9E-7FCCFC29C5C3}"/>
              </a:ext>
            </a:extLst>
          </p:cNvPr>
          <p:cNvSpPr/>
          <p:nvPr/>
        </p:nvSpPr>
        <p:spPr>
          <a:xfrm rot="10800000">
            <a:off x="0" y="0"/>
            <a:ext cx="12192000" cy="1203960"/>
          </a:xfrm>
          <a:prstGeom prst="rect">
            <a:avLst/>
          </a:prstGeom>
          <a:gradFill flip="none" rotWithShape="1">
            <a:gsLst>
              <a:gs pos="0">
                <a:srgbClr val="365976">
                  <a:shade val="30000"/>
                  <a:satMod val="115000"/>
                </a:srgbClr>
              </a:gs>
              <a:gs pos="50000">
                <a:srgbClr val="365976">
                  <a:shade val="67500"/>
                  <a:satMod val="115000"/>
                </a:srgbClr>
              </a:gs>
              <a:gs pos="100000">
                <a:srgbClr val="36597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36597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AC32FFC-B0D8-62A5-69F5-F61457837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970" y="2849880"/>
            <a:ext cx="8854439" cy="2842261"/>
          </a:xfrm>
        </p:spPr>
        <p:txBody>
          <a:bodyPr>
            <a:no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200" dirty="0" err="1">
                <a:latin typeface="Ink Free" panose="03080402000500000000" pitchFamily="66" charset="0"/>
              </a:rPr>
              <a:t>MovieDB</a:t>
            </a:r>
            <a:r>
              <a:rPr lang="en-US" sz="2200" dirty="0">
                <a:latin typeface="Ink Free" panose="03080402000500000000" pitchFamily="66" charset="0"/>
              </a:rPr>
              <a:t> aims to merge the functionality of a traditional movie database with the interactivity of a social platform. It’s designed to give users not only information about movies but also a space to express opinions, share experiences, and connect with others who share the same passion for cinema.</a:t>
            </a:r>
          </a:p>
        </p:txBody>
      </p:sp>
      <p:sp>
        <p:nvSpPr>
          <p:cNvPr id="5" name="Υπότιτλος 2">
            <a:extLst>
              <a:ext uri="{FF2B5EF4-FFF2-40B4-BE49-F238E27FC236}">
                <a16:creationId xmlns:a16="http://schemas.microsoft.com/office/drawing/2014/main" id="{C0F28D21-17F7-E3B7-7EC7-CBCA7AABB586}"/>
              </a:ext>
            </a:extLst>
          </p:cNvPr>
          <p:cNvSpPr txBox="1">
            <a:spLocks/>
          </p:cNvSpPr>
          <p:nvPr/>
        </p:nvSpPr>
        <p:spPr>
          <a:xfrm>
            <a:off x="586740" y="188101"/>
            <a:ext cx="11010900" cy="924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solidFill>
                  <a:schemeClr val="bg1"/>
                </a:solidFill>
              </a:rPr>
              <a:t>Purpose and Vision </a:t>
            </a:r>
            <a:r>
              <a:rPr lang="el-GR" sz="3600" dirty="0"/>
              <a:t>🎯</a:t>
            </a:r>
            <a:endParaRPr lang="el-GR" sz="3600" dirty="0">
              <a:solidFill>
                <a:schemeClr val="bg1"/>
              </a:solidFill>
            </a:endParaRPr>
          </a:p>
        </p:txBody>
      </p:sp>
      <p:sp>
        <p:nvSpPr>
          <p:cNvPr id="9" name="Ορθογώνιο: Στρογγύλεμα γωνιών 8">
            <a:extLst>
              <a:ext uri="{FF2B5EF4-FFF2-40B4-BE49-F238E27FC236}">
                <a16:creationId xmlns:a16="http://schemas.microsoft.com/office/drawing/2014/main" id="{6850F289-615D-5532-02BA-F1F9AEFEFB08}"/>
              </a:ext>
            </a:extLst>
          </p:cNvPr>
          <p:cNvSpPr/>
          <p:nvPr/>
        </p:nvSpPr>
        <p:spPr>
          <a:xfrm>
            <a:off x="1158240" y="1630680"/>
            <a:ext cx="10142220" cy="1089660"/>
          </a:xfrm>
          <a:prstGeom prst="roundRect">
            <a:avLst>
              <a:gd name="adj" fmla="val 0"/>
            </a:avLst>
          </a:prstGeom>
          <a:solidFill>
            <a:srgbClr val="AA7A72"/>
          </a:solidFill>
          <a:ln w="28575">
            <a:solidFill>
              <a:srgbClr val="AA7A7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Ink Free" panose="03080402000500000000" pitchFamily="66" charset="0"/>
              </a:rPr>
              <a:t>Why </a:t>
            </a:r>
            <a:r>
              <a:rPr lang="en-US" sz="3600" dirty="0" err="1">
                <a:latin typeface="Ink Free" panose="03080402000500000000" pitchFamily="66" charset="0"/>
              </a:rPr>
              <a:t>MovieDB</a:t>
            </a:r>
            <a:r>
              <a:rPr lang="en-US" sz="3600" dirty="0">
                <a:latin typeface="Ink Free" panose="03080402000500000000" pitchFamily="66" charset="0"/>
              </a:rPr>
              <a:t>?</a:t>
            </a:r>
            <a:endParaRPr lang="el-GR" sz="3600" dirty="0"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47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12B2774-E6C3-E8E9-679B-FA4567F15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7206" y="1955943"/>
            <a:ext cx="8736516" cy="225249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Login / Sign Up</a:t>
            </a:r>
            <a:r>
              <a:rPr lang="en-US" sz="2000" dirty="0"/>
              <a:t>: Create a personal account and securely log in to access all features. Includes a “Forgot Password” option to easily recover access if needed.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Cookie Consent</a:t>
            </a:r>
            <a:r>
              <a:rPr lang="en-US" sz="2000" dirty="0"/>
              <a:t>: A cookie notification popup ensures compliance and provides the best navigation experience across the site.</a:t>
            </a:r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0A192975-154A-0093-6D98-5BCCA6741F04}"/>
              </a:ext>
            </a:extLst>
          </p:cNvPr>
          <p:cNvSpPr/>
          <p:nvPr/>
        </p:nvSpPr>
        <p:spPr>
          <a:xfrm rot="10800000">
            <a:off x="0" y="0"/>
            <a:ext cx="12192000" cy="1203960"/>
          </a:xfrm>
          <a:prstGeom prst="rect">
            <a:avLst/>
          </a:prstGeom>
          <a:gradFill flip="none" rotWithShape="1">
            <a:gsLst>
              <a:gs pos="0">
                <a:srgbClr val="365976">
                  <a:shade val="30000"/>
                  <a:satMod val="115000"/>
                </a:srgbClr>
              </a:gs>
              <a:gs pos="50000">
                <a:srgbClr val="365976">
                  <a:shade val="67500"/>
                  <a:satMod val="115000"/>
                </a:srgbClr>
              </a:gs>
              <a:gs pos="100000">
                <a:srgbClr val="36597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36597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Υπότιτλος 2">
            <a:extLst>
              <a:ext uri="{FF2B5EF4-FFF2-40B4-BE49-F238E27FC236}">
                <a16:creationId xmlns:a16="http://schemas.microsoft.com/office/drawing/2014/main" id="{6AABBCE6-D2D2-F583-8C60-84CD50DA65B8}"/>
              </a:ext>
            </a:extLst>
          </p:cNvPr>
          <p:cNvSpPr txBox="1">
            <a:spLocks/>
          </p:cNvSpPr>
          <p:nvPr/>
        </p:nvSpPr>
        <p:spPr>
          <a:xfrm>
            <a:off x="586740" y="188101"/>
            <a:ext cx="11010900" cy="924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3600" dirty="0" err="1">
                <a:solidFill>
                  <a:schemeClr val="bg1"/>
                </a:solidFill>
              </a:rPr>
              <a:t>MovieDB</a:t>
            </a:r>
            <a:r>
              <a:rPr lang="en-US" sz="3600" dirty="0">
                <a:solidFill>
                  <a:schemeClr val="bg1"/>
                </a:solidFill>
              </a:rPr>
              <a:t> - Key Features 🌟</a:t>
            </a:r>
            <a:endParaRPr lang="el-GR" sz="3600" dirty="0">
              <a:solidFill>
                <a:schemeClr val="bg1"/>
              </a:solidFill>
            </a:endParaRP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4C9B9B3B-D73E-6412-9A1E-996928133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5" t="18257" r="16721" b="16854"/>
          <a:stretch>
            <a:fillRect/>
          </a:stretch>
        </p:blipFill>
        <p:spPr>
          <a:xfrm>
            <a:off x="9416508" y="4097873"/>
            <a:ext cx="1939104" cy="1868709"/>
          </a:xfrm>
          <a:prstGeom prst="rect">
            <a:avLst/>
          </a:prstGeom>
        </p:spPr>
      </p:pic>
      <p:sp>
        <p:nvSpPr>
          <p:cNvPr id="10" name="Θέση περιεχομένου 2">
            <a:extLst>
              <a:ext uri="{FF2B5EF4-FFF2-40B4-BE49-F238E27FC236}">
                <a16:creationId xmlns:a16="http://schemas.microsoft.com/office/drawing/2014/main" id="{FB2DC9F1-C762-AEC2-049E-3129FF2C6F84}"/>
              </a:ext>
            </a:extLst>
          </p:cNvPr>
          <p:cNvSpPr txBox="1">
            <a:spLocks/>
          </p:cNvSpPr>
          <p:nvPr/>
        </p:nvSpPr>
        <p:spPr>
          <a:xfrm>
            <a:off x="1148808" y="4028012"/>
            <a:ext cx="8010305" cy="2146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Movie Categories</a:t>
            </a:r>
            <a:r>
              <a:rPr lang="en-US" sz="2000" dirty="0"/>
              <a:t>: Movies are organized into various story-based categories, helping users explore films by genre or theme.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General Categories</a:t>
            </a:r>
            <a:r>
              <a:rPr lang="en-US" sz="2000" dirty="0"/>
              <a:t>: Discover movies by popularity and rating, browse through Popular, Top Rated, and New Releases sections.</a:t>
            </a:r>
            <a:endParaRPr lang="el-GR" sz="2000" dirty="0"/>
          </a:p>
        </p:txBody>
      </p:sp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A5DD64DA-F7A5-93FC-6769-FE09E79C5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1" t="22504" r="7193" b="22035"/>
          <a:stretch>
            <a:fillRect/>
          </a:stretch>
        </p:blipFill>
        <p:spPr>
          <a:xfrm>
            <a:off x="1466478" y="3158795"/>
            <a:ext cx="1205772" cy="778271"/>
          </a:xfrm>
          <a:prstGeom prst="rect">
            <a:avLst/>
          </a:prstGeom>
        </p:spPr>
      </p:pic>
      <p:pic>
        <p:nvPicPr>
          <p:cNvPr id="16" name="Εικόνα 15">
            <a:extLst>
              <a:ext uri="{FF2B5EF4-FFF2-40B4-BE49-F238E27FC236}">
                <a16:creationId xmlns:a16="http://schemas.microsoft.com/office/drawing/2014/main" id="{F889CA14-0EE2-A3CA-AAA0-10E823B51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5" t="16586" r="11500" b="15625"/>
          <a:stretch>
            <a:fillRect/>
          </a:stretch>
        </p:blipFill>
        <p:spPr>
          <a:xfrm>
            <a:off x="1466478" y="1955943"/>
            <a:ext cx="1080414" cy="101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5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423B-1E41-4C2A-F6BE-93A13816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227080B-EEF6-06B8-CE40-985D96F70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807" y="1570519"/>
            <a:ext cx="8565383" cy="100061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User Reactions</a:t>
            </a:r>
            <a:r>
              <a:rPr lang="en-US" sz="2000" dirty="0"/>
              <a:t>: Users can mark movies as favorites, rate them, or add them to their watchlist for later viewing.</a:t>
            </a:r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3FDF82F6-1E4A-1176-1180-7415BDD2B2BB}"/>
              </a:ext>
            </a:extLst>
          </p:cNvPr>
          <p:cNvSpPr/>
          <p:nvPr/>
        </p:nvSpPr>
        <p:spPr>
          <a:xfrm rot="10800000">
            <a:off x="0" y="0"/>
            <a:ext cx="12192000" cy="1203960"/>
          </a:xfrm>
          <a:prstGeom prst="rect">
            <a:avLst/>
          </a:prstGeom>
          <a:gradFill flip="none" rotWithShape="1">
            <a:gsLst>
              <a:gs pos="0">
                <a:srgbClr val="365976">
                  <a:shade val="30000"/>
                  <a:satMod val="115000"/>
                </a:srgbClr>
              </a:gs>
              <a:gs pos="50000">
                <a:srgbClr val="365976">
                  <a:shade val="67500"/>
                  <a:satMod val="115000"/>
                </a:srgbClr>
              </a:gs>
              <a:gs pos="100000">
                <a:srgbClr val="36597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36597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Υπότιτλος 2">
            <a:extLst>
              <a:ext uri="{FF2B5EF4-FFF2-40B4-BE49-F238E27FC236}">
                <a16:creationId xmlns:a16="http://schemas.microsoft.com/office/drawing/2014/main" id="{2FB60826-3699-D67E-F5C7-DD6429D20BFA}"/>
              </a:ext>
            </a:extLst>
          </p:cNvPr>
          <p:cNvSpPr txBox="1">
            <a:spLocks/>
          </p:cNvSpPr>
          <p:nvPr/>
        </p:nvSpPr>
        <p:spPr>
          <a:xfrm>
            <a:off x="586740" y="188101"/>
            <a:ext cx="11010900" cy="924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3600" dirty="0" err="1">
                <a:solidFill>
                  <a:schemeClr val="bg1"/>
                </a:solidFill>
              </a:rPr>
              <a:t>MovieDB</a:t>
            </a:r>
            <a:r>
              <a:rPr lang="en-US" sz="3600" dirty="0">
                <a:solidFill>
                  <a:schemeClr val="bg1"/>
                </a:solidFill>
              </a:rPr>
              <a:t> - Key Features 🌟</a:t>
            </a:r>
            <a:endParaRPr lang="el-GR" sz="3600" dirty="0">
              <a:solidFill>
                <a:schemeClr val="bg1"/>
              </a:solidFill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EDC4C842-96E2-2FFD-76EC-292C4B7F7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190" y="1460847"/>
            <a:ext cx="1329003" cy="12939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901906-C948-CAEC-6250-E9317D85E909}"/>
              </a:ext>
            </a:extLst>
          </p:cNvPr>
          <p:cNvSpPr txBox="1"/>
          <p:nvPr/>
        </p:nvSpPr>
        <p:spPr>
          <a:xfrm>
            <a:off x="2914944" y="2734957"/>
            <a:ext cx="824299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Profile Overview</a:t>
            </a:r>
            <a:r>
              <a:rPr lang="en-US" sz="1800" dirty="0"/>
              <a:t>: A personalized page displaying all your activity, including </a:t>
            </a:r>
            <a:r>
              <a:rPr lang="en-US" sz="1800" b="1" dirty="0"/>
              <a:t>ratings</a:t>
            </a:r>
            <a:r>
              <a:rPr lang="en-US" sz="1800" dirty="0"/>
              <a:t>, favorites, and </a:t>
            </a:r>
            <a:r>
              <a:rPr lang="en-US" sz="1800" dirty="0" err="1"/>
              <a:t>watchlisted</a:t>
            </a:r>
            <a:r>
              <a:rPr lang="en-US" sz="1800" dirty="0"/>
              <a:t> movies, giving you a complete snapshot of your movie interactions.</a:t>
            </a:r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8E50C188-D201-4045-B15F-670B93E56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01" y="2603516"/>
            <a:ext cx="1558749" cy="15587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9DA2EA-07DD-67F8-3BD2-F0D353D39AD2}"/>
              </a:ext>
            </a:extLst>
          </p:cNvPr>
          <p:cNvSpPr txBox="1"/>
          <p:nvPr/>
        </p:nvSpPr>
        <p:spPr>
          <a:xfrm>
            <a:off x="1148807" y="4129885"/>
            <a:ext cx="879198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Settings</a:t>
            </a:r>
            <a:r>
              <a:rPr lang="en-US" sz="1800" dirty="0"/>
              <a:t>: A dedicated page where users can update their account information, including username and password.</a:t>
            </a:r>
          </a:p>
        </p:txBody>
      </p:sp>
      <p:pic>
        <p:nvPicPr>
          <p:cNvPr id="17" name="Εικόνα 16">
            <a:extLst>
              <a:ext uri="{FF2B5EF4-FFF2-40B4-BE49-F238E27FC236}">
                <a16:creationId xmlns:a16="http://schemas.microsoft.com/office/drawing/2014/main" id="{2869ED24-993A-D8F0-374A-211F49ECF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0468" r="12500" b="11406"/>
          <a:stretch>
            <a:fillRect/>
          </a:stretch>
        </p:blipFill>
        <p:spPr>
          <a:xfrm>
            <a:off x="10003404" y="3843441"/>
            <a:ext cx="1120140" cy="11668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F581B84-9E38-76DE-8D20-77308DFD3472}"/>
              </a:ext>
            </a:extLst>
          </p:cNvPr>
          <p:cNvSpPr txBox="1"/>
          <p:nvPr/>
        </p:nvSpPr>
        <p:spPr>
          <a:xfrm>
            <a:off x="2575560" y="4971313"/>
            <a:ext cx="8610601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Feed:</a:t>
            </a:r>
            <a:r>
              <a:rPr lang="en-US" sz="1800" dirty="0"/>
              <a:t> A dynamic social space where users can comment on movies, view discussions, and interact with other users. It brings a community-driven experience to the platform, allowing everyone to share opinions, exchange thoughts, and respond directly to others’ comments.</a:t>
            </a:r>
          </a:p>
        </p:txBody>
      </p:sp>
      <p:pic>
        <p:nvPicPr>
          <p:cNvPr id="22" name="Εικόνα 21">
            <a:extLst>
              <a:ext uri="{FF2B5EF4-FFF2-40B4-BE49-F238E27FC236}">
                <a16:creationId xmlns:a16="http://schemas.microsoft.com/office/drawing/2014/main" id="{3A5A12E0-7B11-3B89-9366-A4BEB29E9E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80" y="5214997"/>
            <a:ext cx="1185803" cy="118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1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0DCA-8A68-A8A8-3C7C-C0A494A5A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A9E3CE0-855F-0D67-EAB8-8967313CE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933" y="2035339"/>
            <a:ext cx="10174513" cy="241474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/>
              <a:t>At the link below, you can explore the </a:t>
            </a:r>
            <a:r>
              <a:rPr lang="en-US" sz="2000" b="1" dirty="0"/>
              <a:t>Figma mockups</a:t>
            </a:r>
            <a:r>
              <a:rPr lang="en-US" sz="2000" dirty="0"/>
              <a:t> showcasing the </a:t>
            </a:r>
            <a:r>
              <a:rPr lang="en-US" sz="2000" b="1" dirty="0"/>
              <a:t>UI/UX design of </a:t>
            </a:r>
            <a:r>
              <a:rPr lang="en-US" sz="2000" b="1" dirty="0" err="1"/>
              <a:t>MovieDB</a:t>
            </a:r>
            <a:r>
              <a:rPr lang="en-US" sz="2000" dirty="0"/>
              <a:t>. They highlight the app’s </a:t>
            </a:r>
            <a:r>
              <a:rPr lang="en-US" sz="2000" b="1" dirty="0"/>
              <a:t>clean layout</a:t>
            </a:r>
            <a:r>
              <a:rPr lang="en-US" sz="2000" dirty="0"/>
              <a:t>, </a:t>
            </a:r>
            <a:r>
              <a:rPr lang="en-US" sz="2000" b="1" dirty="0"/>
              <a:t>intuitive navigation</a:t>
            </a:r>
            <a:r>
              <a:rPr lang="en-US" sz="2000" dirty="0"/>
              <a:t>, and </a:t>
            </a:r>
            <a:r>
              <a:rPr lang="en-US" sz="2000" b="1" dirty="0"/>
              <a:t>interactive user experience</a:t>
            </a:r>
            <a:r>
              <a:rPr lang="en-US" sz="20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/>
              <a:t>Each screen was thoughtfully crafted to represent the core vision of </a:t>
            </a:r>
            <a:r>
              <a:rPr lang="en-US" sz="2000" dirty="0" err="1"/>
              <a:t>MovieDB</a:t>
            </a:r>
            <a:r>
              <a:rPr lang="en-US" sz="2000" dirty="0"/>
              <a:t>, a </a:t>
            </a:r>
            <a:r>
              <a:rPr lang="en-US" sz="2000" b="1" dirty="0"/>
              <a:t>modern, social, and user-friendly platform</a:t>
            </a:r>
            <a:r>
              <a:rPr lang="en-US" sz="2000" dirty="0"/>
              <a:t> for </a:t>
            </a:r>
            <a:r>
              <a:rPr lang="en-US" sz="2000" b="1" dirty="0"/>
              <a:t>movie discovery and engagement</a:t>
            </a:r>
            <a:r>
              <a:rPr lang="en-US" sz="2000" dirty="0"/>
              <a:t>.</a:t>
            </a:r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F9E6B9AD-E1D5-F0FE-992B-2131F2CB56E5}"/>
              </a:ext>
            </a:extLst>
          </p:cNvPr>
          <p:cNvSpPr/>
          <p:nvPr/>
        </p:nvSpPr>
        <p:spPr>
          <a:xfrm rot="10800000">
            <a:off x="0" y="0"/>
            <a:ext cx="12192000" cy="1203960"/>
          </a:xfrm>
          <a:prstGeom prst="rect">
            <a:avLst/>
          </a:prstGeom>
          <a:gradFill flip="none" rotWithShape="1">
            <a:gsLst>
              <a:gs pos="0">
                <a:srgbClr val="365976">
                  <a:shade val="30000"/>
                  <a:satMod val="115000"/>
                </a:srgbClr>
              </a:gs>
              <a:gs pos="50000">
                <a:srgbClr val="365976">
                  <a:shade val="67500"/>
                  <a:satMod val="115000"/>
                </a:srgbClr>
              </a:gs>
              <a:gs pos="100000">
                <a:srgbClr val="36597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36597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Υπότιτλος 2">
            <a:extLst>
              <a:ext uri="{FF2B5EF4-FFF2-40B4-BE49-F238E27FC236}">
                <a16:creationId xmlns:a16="http://schemas.microsoft.com/office/drawing/2014/main" id="{BB17BB4A-E292-9EFE-167F-B185584EF6D1}"/>
              </a:ext>
            </a:extLst>
          </p:cNvPr>
          <p:cNvSpPr txBox="1">
            <a:spLocks/>
          </p:cNvSpPr>
          <p:nvPr/>
        </p:nvSpPr>
        <p:spPr>
          <a:xfrm>
            <a:off x="586740" y="188101"/>
            <a:ext cx="11010900" cy="924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solidFill>
                  <a:schemeClr val="bg1"/>
                </a:solidFill>
              </a:rPr>
              <a:t>Figma Mockups </a:t>
            </a:r>
            <a:r>
              <a:rPr lang="el-GR" sz="3600" dirty="0"/>
              <a:t>🎨</a:t>
            </a:r>
            <a:endParaRPr lang="el-GR" sz="3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CE1CD-6DDD-8EB4-D86D-F09EA414902E}"/>
              </a:ext>
            </a:extLst>
          </p:cNvPr>
          <p:cNvSpPr txBox="1"/>
          <p:nvPr/>
        </p:nvSpPr>
        <p:spPr>
          <a:xfrm>
            <a:off x="0" y="4894064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2400" dirty="0">
                <a:solidFill>
                  <a:schemeClr val="accent1">
                    <a:lumMod val="75000"/>
                  </a:schemeClr>
                </a:solidFill>
                <a:latin typeface="Ink Free" panose="03080402000500000000" pitchFamily="66" charset="0"/>
                <a:hlinkClick r:id="rId2"/>
              </a:rPr>
              <a:t>https://track-steep-68520881.figma.site/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k Free" panose="03080402000500000000" pitchFamily="66" charset="0"/>
              </a:rPr>
              <a:t> </a:t>
            </a:r>
            <a:endParaRPr lang="el-GR" sz="2400" dirty="0">
              <a:solidFill>
                <a:schemeClr val="accent1">
                  <a:lumMod val="75000"/>
                </a:schemeClr>
              </a:solidFill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044308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364</Words>
  <Application>Microsoft Office PowerPoint</Application>
  <PresentationFormat>Ευρεία οθόνη</PresentationFormat>
  <Paragraphs>19</Paragraphs>
  <Slides>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Ink Free</vt:lpstr>
      <vt:lpstr>Θέμα του Office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Alexandros Britzolakis</dc:creator>
  <cp:lastModifiedBy>Alexandros Britzolakis</cp:lastModifiedBy>
  <cp:revision>8</cp:revision>
  <dcterms:created xsi:type="dcterms:W3CDTF">2025-10-12T12:11:34Z</dcterms:created>
  <dcterms:modified xsi:type="dcterms:W3CDTF">2025-10-12T14:57:33Z</dcterms:modified>
</cp:coreProperties>
</file>